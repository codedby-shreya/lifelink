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Libre Franklin"/>
      <p:regular r:id="rId22"/>
      <p:bold r:id="rId23"/>
      <p:italic r:id="rId24"/>
      <p:boldItalic r:id="rId25"/>
    </p:embeddedFont>
    <p:embeddedFont>
      <p:font typeface="Franklin Gothic"/>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ibreFranklin-regular.fntdata"/><Relationship Id="rId21" Type="http://schemas.openxmlformats.org/officeDocument/2006/relationships/slide" Target="slides/slide17.xml"/><Relationship Id="rId24" Type="http://schemas.openxmlformats.org/officeDocument/2006/relationships/font" Target="fonts/LibreFranklin-italic.fntdata"/><Relationship Id="rId23" Type="http://schemas.openxmlformats.org/officeDocument/2006/relationships/font" Target="fonts/LibreFranklin-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FranklinGothic-bold.fntdata"/><Relationship Id="rId25" Type="http://schemas.openxmlformats.org/officeDocument/2006/relationships/font" Target="fonts/LibreFranklin-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a2c94b4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a2c94b4_1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3fb0a2c94b4_1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b0a2c94b4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fb0a2c94b4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fb0a2c94b4_1_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b0a2c94b4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b0a2c94b4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g3fb0a2c94b4_1_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b0a2c94b4_1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b0a2c94b4_1_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g3fb0a2c94b4_1_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a2c94b4_1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a2c94b4_1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fb0a2c94b4_1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24" name="Google Shape;24;p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8" name="Google Shape;28;p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
          <p:cNvSpPr txBox="1"/>
          <p:nvPr>
            <p:ph type="title"/>
          </p:nvPr>
        </p:nvSpPr>
        <p:spPr>
          <a:xfrm>
            <a:off x="575894" y="729658"/>
            <a:ext cx="11029616" cy="59224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33" name="Google Shape;33;p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8" name="Google Shape;38;p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0" name="Google Shape;40;p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1" name="Shape 41"/>
        <p:cNvGrpSpPr/>
        <p:nvPr/>
      </p:nvGrpSpPr>
      <p:grpSpPr>
        <a:xfrm>
          <a:off x="0" y="0"/>
          <a:ext cx="0" cy="0"/>
          <a:chOff x="0" y="0"/>
          <a:chExt cx="0" cy="0"/>
        </a:xfrm>
      </p:grpSpPr>
      <p:sp>
        <p:nvSpPr>
          <p:cNvPr id="42" name="Google Shape;42;p6"/>
          <p:cNvSpPr txBox="1"/>
          <p:nvPr>
            <p:ph type="title"/>
          </p:nvPr>
        </p:nvSpPr>
        <p:spPr>
          <a:xfrm>
            <a:off x="581193" y="729658"/>
            <a:ext cx="11029616" cy="49285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 type="body"/>
          </p:nvPr>
        </p:nvSpPr>
        <p:spPr>
          <a:xfrm>
            <a:off x="581193" y="1391479"/>
            <a:ext cx="5194767"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4" name="Google Shape;44;p6"/>
          <p:cNvSpPr txBox="1"/>
          <p:nvPr>
            <p:ph idx="2" type="body"/>
          </p:nvPr>
        </p:nvSpPr>
        <p:spPr>
          <a:xfrm>
            <a:off x="6416039" y="1391479"/>
            <a:ext cx="5194769" cy="4469572"/>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5" name="Google Shape;45;p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47" name="Google Shape;47;p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8" name="Shape 48"/>
        <p:cNvGrpSpPr/>
        <p:nvPr/>
      </p:nvGrpSpPr>
      <p:grpSpPr>
        <a:xfrm>
          <a:off x="0" y="0"/>
          <a:ext cx="0" cy="0"/>
          <a:chOff x="0" y="0"/>
          <a:chExt cx="0" cy="0"/>
        </a:xfrm>
      </p:grpSpPr>
      <p:sp>
        <p:nvSpPr>
          <p:cNvPr id="49" name="Google Shape;49;p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7"/>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7"/>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3" name="Google Shape;53;p7"/>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4" name="Google Shape;54;p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7"/>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56" name="Google Shape;56;p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0" name="Google Shape;60;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5" name="Google Shape;65;p9"/>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6" name="Google Shape;66;p9"/>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581192" y="6452590"/>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68" name="Google Shape;68;p9"/>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p:nvPr>
            <p:ph idx="2" type="pic"/>
          </p:nvPr>
        </p:nvSpPr>
        <p:spPr>
          <a:xfrm>
            <a:off x="447817" y="641350"/>
            <a:ext cx="11290859" cy="3651249"/>
          </a:xfrm>
          <a:prstGeom prst="rect">
            <a:avLst/>
          </a:prstGeom>
          <a:noFill/>
          <a:ln>
            <a:noFill/>
          </a:ln>
        </p:spPr>
      </p:sp>
      <p:sp>
        <p:nvSpPr>
          <p:cNvPr id="72" name="Google Shape;72;p10"/>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3" name="Google Shape;73;p1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75" name="Google Shape;75;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1"/>
          <p:cNvSpPr txBox="1"/>
          <p:nvPr>
            <p:ph idx="1" type="body"/>
          </p:nvPr>
        </p:nvSpPr>
        <p:spPr>
          <a:xfrm rot="5400000">
            <a:off x="3809574" y="-1813184"/>
            <a:ext cx="4572852"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8"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2" lvl="3" marL="1828800" algn="l">
              <a:spcBef>
                <a:spcPts val="600"/>
              </a:spcBef>
              <a:spcAft>
                <a:spcPts val="0"/>
              </a:spcAft>
              <a:buSzPts val="1012"/>
              <a:buChar char="◼"/>
              <a:defRPr/>
            </a:lvl4pPr>
            <a:lvl5pPr indent="-292862"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79" name="Google Shape;79;p1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81" name="Google Shape;81;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2" name="Shape 82"/>
        <p:cNvGrpSpPr/>
        <p:nvPr/>
      </p:nvGrpSpPr>
      <p:grpSpPr>
        <a:xfrm>
          <a:off x="0" y="0"/>
          <a:ext cx="0" cy="0"/>
          <a:chOff x="0" y="0"/>
          <a:chExt cx="0" cy="0"/>
        </a:xfrm>
      </p:grpSpPr>
      <p:sp>
        <p:nvSpPr>
          <p:cNvPr id="83" name="Google Shape;83;p12"/>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2"/>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2"/>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12"/>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2"/>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2"/>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581192" y="6423914"/>
            <a:ext cx="691721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1" name="Google Shape;91;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55714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
          <p:cNvSpPr txBox="1"/>
          <p:nvPr>
            <p:ph idx="1" type="body"/>
          </p:nvPr>
        </p:nvSpPr>
        <p:spPr>
          <a:xfrm>
            <a:off x="581192" y="1415198"/>
            <a:ext cx="11029616" cy="4572852"/>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8"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2"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2"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4"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4"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IN"/>
              <a:t>‹#›</a:t>
            </a:fld>
            <a:endParaRPr/>
          </a:p>
        </p:txBody>
      </p:sp>
      <p:sp>
        <p:nvSpPr>
          <p:cNvPr id="14" name="Google Shape;14;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10;&#10;Description automatically generated" id="17" name="Google Shape;17;p1"/>
          <p:cNvPicPr preferRelativeResize="0"/>
          <p:nvPr/>
        </p:nvPicPr>
        <p:blipFill rotWithShape="1">
          <a:blip r:embed="rId1">
            <a:alphaModFix/>
          </a:blip>
          <a:srcRect b="0" l="0" r="0" t="0"/>
          <a:stretch/>
        </p:blipFill>
        <p:spPr>
          <a:xfrm>
            <a:off x="10485003" y="6437910"/>
            <a:ext cx="1125805" cy="36512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aicte-batch1-resume-builder-fuurng7gntvmkafiuf6own.streamlit.ap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3"/>
          <p:cNvSpPr txBox="1"/>
          <p:nvPr>
            <p:ph type="ctrTitle"/>
          </p:nvPr>
        </p:nvSpPr>
        <p:spPr>
          <a:xfrm>
            <a:off x="1204025" y="1505025"/>
            <a:ext cx="9299100" cy="12942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15000"/>
              </a:lnSpc>
              <a:spcBef>
                <a:spcPts val="1200"/>
              </a:spcBef>
              <a:spcAft>
                <a:spcPts val="0"/>
              </a:spcAft>
              <a:buClr>
                <a:schemeClr val="dk1"/>
              </a:buClr>
              <a:buSzPct val="40741"/>
              <a:buFont typeface="Arial"/>
              <a:buNone/>
            </a:pPr>
            <a:r>
              <a:rPr b="1" lang="en-IN" sz="2700">
                <a:solidFill>
                  <a:schemeClr val="dk1"/>
                </a:solidFill>
                <a:latin typeface="Arial"/>
                <a:ea typeface="Arial"/>
                <a:cs typeface="Arial"/>
                <a:sym typeface="Arial"/>
              </a:rPr>
              <a:t>LIFELINK</a:t>
            </a:r>
            <a:endParaRPr b="1" sz="2700">
              <a:solidFill>
                <a:schemeClr val="dk1"/>
              </a:solidFill>
              <a:latin typeface="Arial"/>
              <a:ea typeface="Arial"/>
              <a:cs typeface="Arial"/>
              <a:sym typeface="Arial"/>
            </a:endParaRPr>
          </a:p>
          <a:p>
            <a:pPr indent="0" lvl="0" marL="0" rtl="0" algn="ctr">
              <a:lnSpc>
                <a:spcPct val="100000"/>
              </a:lnSpc>
              <a:spcBef>
                <a:spcPts val="1200"/>
              </a:spcBef>
              <a:spcAft>
                <a:spcPts val="0"/>
              </a:spcAft>
              <a:buClr>
                <a:srgbClr val="3F3F3F"/>
              </a:buClr>
              <a:buSzPct val="127559"/>
              <a:buFont typeface="Franklin Gothic"/>
              <a:buNone/>
            </a:pPr>
            <a:r>
              <a:rPr lang="en-IN" sz="2822">
                <a:solidFill>
                  <a:schemeClr val="accent1"/>
                </a:solidFill>
                <a:latin typeface="Arial"/>
                <a:ea typeface="Arial"/>
                <a:cs typeface="Arial"/>
                <a:sym typeface="Arial"/>
              </a:rPr>
              <a:t>AI-Powered Blood &amp; Organ Donor–Recipient Matching System </a:t>
            </a:r>
            <a:endParaRPr sz="2822">
              <a:solidFill>
                <a:schemeClr val="accent1"/>
              </a:solidFill>
              <a:latin typeface="Arial"/>
              <a:ea typeface="Arial"/>
              <a:cs typeface="Arial"/>
              <a:sym typeface="Arial"/>
            </a:endParaRPr>
          </a:p>
        </p:txBody>
      </p:sp>
      <p:sp>
        <p:nvSpPr>
          <p:cNvPr id="97" name="Google Shape;97;p13"/>
          <p:cNvSpPr txBox="1"/>
          <p:nvPr/>
        </p:nvSpPr>
        <p:spPr>
          <a:xfrm>
            <a:off x="-267332" y="1034321"/>
            <a:ext cx="127266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200" u="none" cap="none" strike="noStrike">
                <a:solidFill>
                  <a:srgbClr val="1482AB"/>
                </a:solidFill>
                <a:latin typeface="Arial"/>
                <a:ea typeface="Arial"/>
                <a:cs typeface="Arial"/>
                <a:sym typeface="Arial"/>
              </a:rPr>
              <a:t>CAPSTONE PROJECT</a:t>
            </a:r>
            <a:endParaRPr/>
          </a:p>
        </p:txBody>
      </p:sp>
      <p:sp>
        <p:nvSpPr>
          <p:cNvPr id="98" name="Google Shape;98;p13"/>
          <p:cNvSpPr txBox="1"/>
          <p:nvPr/>
        </p:nvSpPr>
        <p:spPr>
          <a:xfrm>
            <a:off x="1862975" y="3847950"/>
            <a:ext cx="8223000" cy="2216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2300" u="none" cap="none" strike="noStrike">
                <a:solidFill>
                  <a:srgbClr val="1482AB"/>
                </a:solidFill>
                <a:latin typeface="Arial"/>
                <a:ea typeface="Arial"/>
                <a:cs typeface="Arial"/>
                <a:sym typeface="Arial"/>
              </a:rPr>
              <a:t>Presented By:</a:t>
            </a:r>
            <a:endParaRPr sz="1700"/>
          </a:p>
          <a:p>
            <a:pPr indent="-476250" lvl="0" marL="457200" marR="0" rtl="0" algn="l">
              <a:spcBef>
                <a:spcPts val="0"/>
              </a:spcBef>
              <a:spcAft>
                <a:spcPts val="0"/>
              </a:spcAft>
              <a:buClr>
                <a:srgbClr val="1482AB"/>
              </a:buClr>
              <a:buSzPts val="2300"/>
              <a:buFont typeface="Arial"/>
              <a:buAutoNum type="arabicPeriod"/>
            </a:pPr>
            <a:r>
              <a:rPr b="1" lang="en-IN" sz="2300">
                <a:solidFill>
                  <a:srgbClr val="1482AB"/>
                </a:solidFill>
                <a:latin typeface="Arial"/>
                <a:ea typeface="Arial"/>
                <a:cs typeface="Arial"/>
                <a:sym typeface="Arial"/>
              </a:rPr>
              <a:t>Student Name</a:t>
            </a:r>
            <a:r>
              <a:rPr b="1" lang="en-IN" sz="2300">
                <a:solidFill>
                  <a:srgbClr val="1482AB"/>
                </a:solidFill>
              </a:rPr>
              <a:t> - Shreya Kumari</a:t>
            </a:r>
            <a:endParaRPr sz="1700"/>
          </a:p>
          <a:p>
            <a:pPr indent="-476250" lvl="0" marL="457200" marR="0" rtl="0" algn="l">
              <a:spcBef>
                <a:spcPts val="0"/>
              </a:spcBef>
              <a:spcAft>
                <a:spcPts val="0"/>
              </a:spcAft>
              <a:buClr>
                <a:srgbClr val="1482AB"/>
              </a:buClr>
              <a:buSzPts val="2300"/>
              <a:buFont typeface="Arial"/>
              <a:buAutoNum type="arabicPeriod"/>
            </a:pPr>
            <a:r>
              <a:rPr b="1" lang="en-IN" sz="2300">
                <a:solidFill>
                  <a:srgbClr val="1482AB"/>
                </a:solidFill>
                <a:latin typeface="Arial"/>
                <a:ea typeface="Arial"/>
                <a:cs typeface="Arial"/>
                <a:sym typeface="Arial"/>
              </a:rPr>
              <a:t>College Name</a:t>
            </a:r>
            <a:r>
              <a:rPr b="1" lang="en-IN" sz="2300">
                <a:solidFill>
                  <a:srgbClr val="1482AB"/>
                </a:solidFill>
              </a:rPr>
              <a:t> - Indian Institute of Technology patna</a:t>
            </a:r>
            <a:endParaRPr sz="1700"/>
          </a:p>
          <a:p>
            <a:pPr indent="-476250" lvl="0" marL="457200" marR="0" rtl="0" algn="l">
              <a:spcBef>
                <a:spcPts val="0"/>
              </a:spcBef>
              <a:spcAft>
                <a:spcPts val="0"/>
              </a:spcAft>
              <a:buClr>
                <a:srgbClr val="1482AB"/>
              </a:buClr>
              <a:buSzPts val="2300"/>
              <a:buFont typeface="Arial"/>
              <a:buAutoNum type="arabicPeriod"/>
            </a:pPr>
            <a:r>
              <a:rPr b="1" lang="en-IN" sz="2300">
                <a:solidFill>
                  <a:srgbClr val="1482AB"/>
                </a:solidFill>
                <a:latin typeface="Arial"/>
                <a:ea typeface="Arial"/>
                <a:cs typeface="Arial"/>
                <a:sym typeface="Arial"/>
              </a:rPr>
              <a:t>Department - Computer Science(</a:t>
            </a:r>
            <a:r>
              <a:rPr b="1" lang="en-IN" sz="2300">
                <a:solidFill>
                  <a:srgbClr val="1482AB"/>
                </a:solidFill>
              </a:rPr>
              <a:t>Artificial Intelligence and Cyber Security)</a:t>
            </a:r>
            <a:endParaRPr sz="1700"/>
          </a:p>
          <a:p>
            <a:pPr indent="-476250" lvl="0" marL="457200" marR="0" rtl="0" algn="l">
              <a:spcBef>
                <a:spcPts val="0"/>
              </a:spcBef>
              <a:spcAft>
                <a:spcPts val="0"/>
              </a:spcAft>
              <a:buClr>
                <a:srgbClr val="1482AB"/>
              </a:buClr>
              <a:buSzPts val="2300"/>
              <a:buFont typeface="Arial"/>
              <a:buAutoNum type="arabicPeriod"/>
            </a:pPr>
            <a:r>
              <a:rPr b="1" lang="en-IN" sz="2300">
                <a:solidFill>
                  <a:srgbClr val="1482AB"/>
                </a:solidFill>
                <a:latin typeface="Arial"/>
                <a:ea typeface="Arial"/>
                <a:cs typeface="Arial"/>
                <a:sym typeface="Arial"/>
              </a:rPr>
              <a:t> AICTE ID</a:t>
            </a:r>
            <a:r>
              <a:rPr b="1" lang="en-IN" sz="2300">
                <a:solidFill>
                  <a:srgbClr val="1482AB"/>
                </a:solidFill>
              </a:rPr>
              <a:t> - STU6968f6fa59ac01768486650</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4"/>
          <p:cNvSpPr txBox="1"/>
          <p:nvPr>
            <p:ph type="title"/>
          </p:nvPr>
        </p:nvSpPr>
        <p:spPr>
          <a:xfrm>
            <a:off x="849573" y="558468"/>
            <a:ext cx="10515600"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OUTLINE</a:t>
            </a:r>
            <a:endParaRPr/>
          </a:p>
        </p:txBody>
      </p:sp>
      <p:sp>
        <p:nvSpPr>
          <p:cNvPr id="104" name="Google Shape;104;p14"/>
          <p:cNvSpPr txBox="1"/>
          <p:nvPr>
            <p:ph idx="1" type="body"/>
          </p:nvPr>
        </p:nvSpPr>
        <p:spPr>
          <a:xfrm>
            <a:off x="838200" y="1618938"/>
            <a:ext cx="11019020" cy="523906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1840"/>
              <a:buNone/>
            </a:pPr>
            <a:r>
              <a:rPr b="1" lang="en-IN" sz="2000">
                <a:latin typeface="Arial"/>
                <a:ea typeface="Arial"/>
                <a:cs typeface="Arial"/>
                <a:sym typeface="Arial"/>
              </a:rPr>
              <a: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Problem Statement </a:t>
            </a:r>
            <a:r>
              <a:rPr lang="en-IN" sz="2000">
                <a:latin typeface="Arial"/>
                <a:ea typeface="Arial"/>
                <a:cs typeface="Arial"/>
                <a:sym typeface="Arial"/>
              </a:rPr>
              <a:t>(Should not include 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Proposed System/Solution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System Development Approach </a:t>
            </a:r>
            <a:r>
              <a:rPr lang="en-IN" sz="2000">
                <a:latin typeface="Arial"/>
                <a:ea typeface="Arial"/>
                <a:cs typeface="Arial"/>
                <a:sym typeface="Arial"/>
              </a:rPr>
              <a:t>(Technology Used)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Algorithm &amp; Deployment  </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Result</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Conclusion</a:t>
            </a:r>
            <a:endParaRPr>
              <a:latin typeface="Arial"/>
              <a:ea typeface="Arial"/>
              <a:cs typeface="Arial"/>
              <a:sym typeface="Arial"/>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Future Scope</a:t>
            </a:r>
            <a:endParaRPr/>
          </a:p>
          <a:p>
            <a:pPr indent="-306000" lvl="0" marL="306000" rtl="0" algn="l">
              <a:lnSpc>
                <a:spcPct val="110000"/>
              </a:lnSpc>
              <a:spcBef>
                <a:spcPts val="1000"/>
              </a:spcBef>
              <a:spcAft>
                <a:spcPts val="0"/>
              </a:spcAft>
              <a:buSzPts val="1840"/>
              <a:buChar char="◼"/>
            </a:pPr>
            <a:r>
              <a:rPr b="1" lang="en-IN" sz="2000">
                <a:latin typeface="Arial"/>
                <a:ea typeface="Arial"/>
                <a:cs typeface="Arial"/>
                <a:sym typeface="Arial"/>
              </a:rPr>
              <a:t>References</a:t>
            </a:r>
            <a:endParaRPr>
              <a:latin typeface="Arial"/>
              <a:ea typeface="Arial"/>
              <a:cs typeface="Arial"/>
              <a:sym typeface="Arial"/>
            </a:endParaRPr>
          </a:p>
          <a:p>
            <a:pPr indent="-206686" lvl="0" marL="306000" rtl="0" algn="l">
              <a:lnSpc>
                <a:spcPct val="110000"/>
              </a:lnSpc>
              <a:spcBef>
                <a:spcPts val="940"/>
              </a:spcBef>
              <a:spcAft>
                <a:spcPts val="0"/>
              </a:spcAft>
              <a:buSzPts val="1564"/>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5"/>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PROBLEM STATEMENT</a:t>
            </a:r>
            <a:endParaRPr sz="4400"/>
          </a:p>
        </p:txBody>
      </p:sp>
      <p:sp>
        <p:nvSpPr>
          <p:cNvPr id="110" name="Google Shape;110;p15"/>
          <p:cNvSpPr txBox="1"/>
          <p:nvPr>
            <p:ph idx="1" type="body"/>
          </p:nvPr>
        </p:nvSpPr>
        <p:spPr>
          <a:xfrm>
            <a:off x="452403" y="1237632"/>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IN" sz="2000">
                <a:solidFill>
                  <a:schemeClr val="dk1"/>
                </a:solidFill>
                <a:latin typeface="Arial"/>
                <a:ea typeface="Arial"/>
                <a:cs typeface="Arial"/>
                <a:sym typeface="Arial"/>
              </a:rPr>
              <a:t>During medical emergencies, finding a suitable blood or organ donor can be slow and difficult.</a:t>
            </a:r>
            <a:endParaRPr b="1" sz="2000">
              <a:solidFill>
                <a:schemeClr val="dk1"/>
              </a:solidFill>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IN" sz="1800">
                <a:solidFill>
                  <a:schemeClr val="dk1"/>
                </a:solidFill>
                <a:latin typeface="Arial"/>
                <a:ea typeface="Arial"/>
                <a:cs typeface="Arial"/>
                <a:sym typeface="Arial"/>
              </a:rPr>
              <a:t>Donor information is often scattered across different sources.</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Hospitals may struggle to identify compatible donors quickly.</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Manual donor-recipient matching consumes valuable time.</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Location and donor availability are important but difficult to consider simultaneously.</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There is a need for a centralized platform that can prioritize compatible and nearby donors.</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IN" sz="1800">
                <a:solidFill>
                  <a:schemeClr val="dk1"/>
                </a:solidFill>
                <a:latin typeface="Arial"/>
                <a:ea typeface="Arial"/>
                <a:cs typeface="Arial"/>
                <a:sym typeface="Arial"/>
              </a:rPr>
              <a:t>Delays in identifying suitable donors can affect emergency response.</a:t>
            </a:r>
            <a:endParaRPr sz="1800">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2000">
                <a:solidFill>
                  <a:schemeClr val="dk1"/>
                </a:solidFill>
                <a:latin typeface="Arial"/>
                <a:ea typeface="Arial"/>
                <a:cs typeface="Arial"/>
                <a:sym typeface="Arial"/>
              </a:rPr>
              <a:t>Problem:</a:t>
            </a:r>
            <a:br>
              <a:rPr b="1" lang="en-IN" sz="2000">
                <a:solidFill>
                  <a:schemeClr val="dk1"/>
                </a:solidFill>
                <a:latin typeface="Arial"/>
                <a:ea typeface="Arial"/>
                <a:cs typeface="Arial"/>
                <a:sym typeface="Arial"/>
              </a:rPr>
            </a:br>
            <a:r>
              <a:rPr lang="en-IN" sz="1500">
                <a:solidFill>
                  <a:schemeClr val="dk1"/>
                </a:solidFill>
                <a:latin typeface="Arial"/>
                <a:ea typeface="Arial"/>
                <a:cs typeface="Arial"/>
                <a:sym typeface="Arial"/>
              </a:rPr>
              <a:t>There is a need for a fast, intelligent and centralized system that can identify suitable blood or organ donors for recipients based on compatibility, location, urgency and availability.</a:t>
            </a:r>
            <a:endParaRPr sz="1500">
              <a:solidFill>
                <a:schemeClr val="dk1"/>
              </a:solidFill>
              <a:latin typeface="Arial"/>
              <a:ea typeface="Arial"/>
              <a:cs typeface="Arial"/>
              <a:sym typeface="Arial"/>
            </a:endParaRPr>
          </a:p>
          <a:p>
            <a:pPr indent="0" lvl="0" marL="0" rtl="0" algn="l">
              <a:lnSpc>
                <a:spcPct val="110000"/>
              </a:lnSpc>
              <a:spcBef>
                <a:spcPts val="1200"/>
              </a:spcBef>
              <a:spcAft>
                <a:spcPts val="0"/>
              </a:spcAft>
              <a:buSzPts val="1564"/>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6"/>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PROPOSED SOLUTION</a:t>
            </a:r>
            <a:endParaRPr sz="4400"/>
          </a:p>
        </p:txBody>
      </p:sp>
      <p:sp>
        <p:nvSpPr>
          <p:cNvPr id="116" name="Google Shape;116;p16"/>
          <p:cNvSpPr txBox="1"/>
          <p:nvPr>
            <p:ph idx="1" type="body"/>
          </p:nvPr>
        </p:nvSpPr>
        <p:spPr>
          <a:xfrm>
            <a:off x="441671" y="1087378"/>
            <a:ext cx="11613485" cy="5563973"/>
          </a:xfrm>
          <a:prstGeom prst="rect">
            <a:avLst/>
          </a:prstGeom>
          <a:noFill/>
          <a:ln>
            <a:noFill/>
          </a:ln>
        </p:spPr>
        <p:txBody>
          <a:bodyPr anchorCtr="0" anchor="ctr" bIns="45700" lIns="91425" spcFirstLastPara="1" rIns="91425" wrap="square" tIns="45700">
            <a:noAutofit/>
          </a:bodyPr>
          <a:lstStyle/>
          <a:p>
            <a:pPr indent="-235331" lvl="0" marL="305435" rtl="0" algn="l">
              <a:lnSpc>
                <a:spcPct val="110000"/>
              </a:lnSpc>
              <a:spcBef>
                <a:spcPts val="0"/>
              </a:spcBef>
              <a:spcAft>
                <a:spcPts val="0"/>
              </a:spcAft>
              <a:buSzPts val="1104"/>
              <a:buNone/>
            </a:pPr>
            <a:r>
              <a:t/>
            </a:r>
            <a:endParaRPr b="1" sz="1200">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b="1" lang="en-IN" sz="2300">
                <a:solidFill>
                  <a:schemeClr val="dk1"/>
                </a:solidFill>
                <a:latin typeface="Arial"/>
                <a:ea typeface="Arial"/>
                <a:cs typeface="Arial"/>
                <a:sym typeface="Arial"/>
              </a:rPr>
              <a:t>LifeLink</a:t>
            </a:r>
            <a:r>
              <a:rPr lang="en-IN" sz="2300">
                <a:solidFill>
                  <a:schemeClr val="dk1"/>
                </a:solidFill>
                <a:latin typeface="Arial"/>
                <a:ea typeface="Arial"/>
                <a:cs typeface="Arial"/>
                <a:sym typeface="Arial"/>
              </a:rPr>
              <a:t> </a:t>
            </a:r>
            <a:r>
              <a:rPr lang="en-IN" sz="2000">
                <a:solidFill>
                  <a:schemeClr val="dk1"/>
                </a:solidFill>
                <a:latin typeface="Arial"/>
                <a:ea typeface="Arial"/>
                <a:cs typeface="Arial"/>
                <a:sym typeface="Arial"/>
              </a:rPr>
              <a:t>is an AI-powered blood and organ donor-recipient matching platform designed to make emergency donor identification faster and more efficient. The system allows donors to register their blood type, organ willingness, location, and availability, while recipients or hospitals can submit urgent donation requests.</a:t>
            </a:r>
            <a:endParaRPr sz="2000">
              <a:solidFill>
                <a:schemeClr val="dk1"/>
              </a:solidFill>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rPr lang="en-IN" sz="2000">
                <a:solidFill>
                  <a:schemeClr val="dk1"/>
                </a:solidFill>
                <a:latin typeface="Arial"/>
                <a:ea typeface="Arial"/>
                <a:cs typeface="Arial"/>
                <a:sym typeface="Arial"/>
              </a:rPr>
              <a:t>The platform uses an </a:t>
            </a:r>
            <a:r>
              <a:rPr b="1" lang="en-IN" sz="2000">
                <a:solidFill>
                  <a:schemeClr val="dk1"/>
                </a:solidFill>
                <a:latin typeface="Arial"/>
                <a:ea typeface="Arial"/>
                <a:cs typeface="Arial"/>
                <a:sym typeface="Arial"/>
              </a:rPr>
              <a:t>intelligent matching engine</a:t>
            </a:r>
            <a:r>
              <a:rPr lang="en-IN" sz="2000">
                <a:solidFill>
                  <a:schemeClr val="dk1"/>
                </a:solidFill>
                <a:latin typeface="Arial"/>
                <a:ea typeface="Arial"/>
                <a:cs typeface="Arial"/>
                <a:sym typeface="Arial"/>
              </a:rPr>
              <a:t> to identify suitable donors by analyzing </a:t>
            </a:r>
            <a:r>
              <a:rPr b="1" lang="en-IN" sz="2000">
                <a:solidFill>
                  <a:schemeClr val="dk1"/>
                </a:solidFill>
                <a:latin typeface="Arial"/>
                <a:ea typeface="Arial"/>
                <a:cs typeface="Arial"/>
                <a:sym typeface="Arial"/>
              </a:rPr>
              <a:t>blood/organ compatibility, geographic proximity, urgency level, and donor availability</a:t>
            </a:r>
            <a:r>
              <a:rPr lang="en-IN" sz="2000">
                <a:solidFill>
                  <a:schemeClr val="dk1"/>
                </a:solidFill>
                <a:latin typeface="Arial"/>
                <a:ea typeface="Arial"/>
                <a:cs typeface="Arial"/>
                <a:sym typeface="Arial"/>
              </a:rPr>
              <a:t>. Potential donors are ranked using a weighted matching score so that the most suitable matches can be identified quickly.</a:t>
            </a:r>
            <a:endParaRPr sz="2000">
              <a:solidFill>
                <a:schemeClr val="dk1"/>
              </a:solidFill>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rPr lang="en-IN" sz="2000">
                <a:solidFill>
                  <a:schemeClr val="dk1"/>
                </a:solidFill>
                <a:latin typeface="Arial"/>
                <a:ea typeface="Arial"/>
                <a:cs typeface="Arial"/>
                <a:sym typeface="Arial"/>
              </a:rPr>
              <a:t>An </a:t>
            </a:r>
            <a:r>
              <a:rPr b="1" lang="en-IN" sz="2000">
                <a:solidFill>
                  <a:schemeClr val="dk1"/>
                </a:solidFill>
                <a:latin typeface="Arial"/>
                <a:ea typeface="Arial"/>
                <a:cs typeface="Arial"/>
                <a:sym typeface="Arial"/>
              </a:rPr>
              <a:t>AI-powered assistant</a:t>
            </a:r>
            <a:r>
              <a:rPr lang="en-IN" sz="2000">
                <a:solidFill>
                  <a:schemeClr val="dk1"/>
                </a:solidFill>
                <a:latin typeface="Arial"/>
                <a:ea typeface="Arial"/>
                <a:cs typeface="Arial"/>
                <a:sym typeface="Arial"/>
              </a:rPr>
              <a:t> helps users with donation-related queries, while the </a:t>
            </a:r>
            <a:r>
              <a:rPr b="1" lang="en-IN" sz="2000">
                <a:solidFill>
                  <a:schemeClr val="dk1"/>
                </a:solidFill>
                <a:latin typeface="Arial"/>
                <a:ea typeface="Arial"/>
                <a:cs typeface="Arial"/>
                <a:sym typeface="Arial"/>
              </a:rPr>
              <a:t>admin dashboard</a:t>
            </a:r>
            <a:r>
              <a:rPr lang="en-IN" sz="2000">
                <a:solidFill>
                  <a:schemeClr val="dk1"/>
                </a:solidFill>
                <a:latin typeface="Arial"/>
                <a:ea typeface="Arial"/>
                <a:cs typeface="Arial"/>
                <a:sym typeface="Arial"/>
              </a:rPr>
              <a:t> enables verification, monitoring, match management, and request status tracking. The system can also be extended with real-time notifications to immediately alert matched donors during emergencies.</a:t>
            </a:r>
            <a:endParaRPr sz="2000">
              <a:solidFill>
                <a:schemeClr val="dk1"/>
              </a:solidFill>
              <a:latin typeface="Arial"/>
              <a:ea typeface="Arial"/>
              <a:cs typeface="Arial"/>
              <a:sym typeface="Arial"/>
            </a:endParaRPr>
          </a:p>
          <a:p>
            <a:pPr indent="0" lvl="0" marL="0" rtl="0" algn="l">
              <a:lnSpc>
                <a:spcPct val="110000"/>
              </a:lnSpc>
              <a:spcBef>
                <a:spcPts val="1200"/>
              </a:spcBef>
              <a:spcAft>
                <a:spcPts val="0"/>
              </a:spcAft>
              <a:buSzPts val="1564"/>
              <a:buNone/>
            </a:pPr>
            <a:r>
              <a:t/>
            </a:r>
            <a:endParaRPr b="1" sz="12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type="title"/>
          </p:nvPr>
        </p:nvSpPr>
        <p:spPr>
          <a:xfrm>
            <a:off x="581192" y="662572"/>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SYSTEM  APPROACH</a:t>
            </a:r>
            <a:endParaRPr sz="4400">
              <a:solidFill>
                <a:schemeClr val="accent1"/>
              </a:solidFill>
              <a:latin typeface="Calibri"/>
              <a:ea typeface="Calibri"/>
              <a:cs typeface="Calibri"/>
              <a:sym typeface="Calibri"/>
            </a:endParaRPr>
          </a:p>
        </p:txBody>
      </p:sp>
      <p:sp>
        <p:nvSpPr>
          <p:cNvPr id="122" name="Google Shape;122;p17"/>
          <p:cNvSpPr txBox="1"/>
          <p:nvPr>
            <p:ph idx="1" type="body"/>
          </p:nvPr>
        </p:nvSpPr>
        <p:spPr>
          <a:xfrm>
            <a:off x="581200" y="1192875"/>
            <a:ext cx="11029500" cy="5486100"/>
          </a:xfrm>
          <a:prstGeom prst="rect">
            <a:avLst/>
          </a:prstGeom>
          <a:noFill/>
          <a:ln>
            <a:noFill/>
          </a:ln>
        </p:spPr>
        <p:txBody>
          <a:bodyPr anchorCtr="0" anchor="ctr" bIns="45700" lIns="91425" spcFirstLastPara="1" rIns="91425" wrap="square" tIns="45700">
            <a:noAutofit/>
          </a:bodyPr>
          <a:lstStyle/>
          <a:p>
            <a:pPr indent="-369500" lvl="0" marL="306000" rtl="0" algn="just">
              <a:lnSpc>
                <a:spcPct val="115000"/>
              </a:lnSpc>
              <a:spcBef>
                <a:spcPts val="1200"/>
              </a:spcBef>
              <a:spcAft>
                <a:spcPts val="0"/>
              </a:spcAft>
              <a:buSzPts val="2656"/>
              <a:buChar char="◼"/>
            </a:pPr>
            <a:r>
              <a:rPr b="1" lang="en-IN" sz="2100">
                <a:solidFill>
                  <a:schemeClr val="dk1"/>
                </a:solidFill>
                <a:latin typeface="Arial"/>
                <a:ea typeface="Arial"/>
                <a:cs typeface="Arial"/>
                <a:sym typeface="Arial"/>
              </a:rPr>
              <a:t>LifeLink</a:t>
            </a:r>
            <a:r>
              <a:rPr lang="en-IN" sz="2100">
                <a:solidFill>
                  <a:schemeClr val="dk1"/>
                </a:solidFill>
                <a:latin typeface="Arial"/>
                <a:ea typeface="Arial"/>
                <a:cs typeface="Arial"/>
                <a:sym typeface="Arial"/>
              </a:rPr>
              <a:t> is developed as a Python-based AI-powered web application using </a:t>
            </a:r>
            <a:r>
              <a:rPr b="1" lang="en-IN" sz="2100">
                <a:solidFill>
                  <a:schemeClr val="dk1"/>
                </a:solidFill>
                <a:latin typeface="Arial"/>
                <a:ea typeface="Arial"/>
                <a:cs typeface="Arial"/>
                <a:sym typeface="Arial"/>
              </a:rPr>
              <a:t>Streamlit</a:t>
            </a:r>
            <a:r>
              <a:rPr lang="en-IN" sz="2100">
                <a:solidFill>
                  <a:schemeClr val="dk1"/>
                </a:solidFill>
                <a:latin typeface="Arial"/>
                <a:ea typeface="Arial"/>
                <a:cs typeface="Arial"/>
                <a:sym typeface="Arial"/>
              </a:rPr>
              <a:t> for the user interface and </a:t>
            </a:r>
            <a:r>
              <a:rPr b="1" lang="en-IN" sz="2100">
                <a:solidFill>
                  <a:schemeClr val="dk1"/>
                </a:solidFill>
                <a:latin typeface="Arial"/>
                <a:ea typeface="Arial"/>
                <a:cs typeface="Arial"/>
                <a:sym typeface="Arial"/>
              </a:rPr>
              <a:t>Google Gemini</a:t>
            </a:r>
            <a:r>
              <a:rPr lang="en-IN" sz="2100">
                <a:solidFill>
                  <a:schemeClr val="dk1"/>
                </a:solidFill>
                <a:latin typeface="Arial"/>
                <a:ea typeface="Arial"/>
                <a:cs typeface="Arial"/>
                <a:sym typeface="Arial"/>
              </a:rPr>
              <a:t> for the conversational AI assistant. The system follows a modular architecture with separate components for donor registration, recipient requests, matching, AI assistance, and admin management.</a:t>
            </a:r>
            <a:endParaRPr sz="2100">
              <a:solidFill>
                <a:schemeClr val="dk1"/>
              </a:solidFill>
              <a:latin typeface="Arial"/>
              <a:ea typeface="Arial"/>
              <a:cs typeface="Arial"/>
              <a:sym typeface="Arial"/>
            </a:endParaRPr>
          </a:p>
          <a:p>
            <a:pPr indent="-369500" lvl="0" marL="306000" rtl="0" algn="just">
              <a:lnSpc>
                <a:spcPct val="115000"/>
              </a:lnSpc>
              <a:spcBef>
                <a:spcPts val="0"/>
              </a:spcBef>
              <a:spcAft>
                <a:spcPts val="0"/>
              </a:spcAft>
              <a:buSzPts val="2656"/>
              <a:buChar char="◼"/>
            </a:pPr>
            <a:r>
              <a:rPr lang="en-IN" sz="2100">
                <a:solidFill>
                  <a:schemeClr val="dk1"/>
                </a:solidFill>
                <a:latin typeface="Arial"/>
                <a:ea typeface="Arial"/>
                <a:cs typeface="Arial"/>
                <a:sym typeface="Arial"/>
              </a:rPr>
              <a:t>The core matching module processes donor and recipient information and calculates compatibility using </a:t>
            </a:r>
            <a:r>
              <a:rPr b="1" lang="en-IN" sz="2100">
                <a:solidFill>
                  <a:schemeClr val="dk1"/>
                </a:solidFill>
                <a:latin typeface="Arial"/>
                <a:ea typeface="Arial"/>
                <a:cs typeface="Arial"/>
                <a:sym typeface="Arial"/>
              </a:rPr>
              <a:t>blood/organ type, location, urgency, and availability</a:t>
            </a:r>
            <a:r>
              <a:rPr lang="en-IN" sz="2100">
                <a:solidFill>
                  <a:schemeClr val="dk1"/>
                </a:solidFill>
                <a:latin typeface="Arial"/>
                <a:ea typeface="Arial"/>
                <a:cs typeface="Arial"/>
                <a:sym typeface="Arial"/>
              </a:rPr>
              <a:t>. For the prototype, data is managed using </a:t>
            </a:r>
            <a:r>
              <a:rPr b="1" lang="en-IN" sz="2100">
                <a:solidFill>
                  <a:schemeClr val="dk1"/>
                </a:solidFill>
                <a:latin typeface="Arial"/>
                <a:ea typeface="Arial"/>
                <a:cs typeface="Arial"/>
                <a:sym typeface="Arial"/>
              </a:rPr>
              <a:t>Streamlit session state</a:t>
            </a:r>
            <a:r>
              <a:rPr lang="en-IN" sz="2100">
                <a:solidFill>
                  <a:schemeClr val="dk1"/>
                </a:solidFill>
                <a:latin typeface="Arial"/>
                <a:ea typeface="Arial"/>
                <a:cs typeface="Arial"/>
                <a:sym typeface="Arial"/>
              </a:rPr>
              <a:t>, while the system is designed to support </a:t>
            </a:r>
            <a:r>
              <a:rPr b="1" lang="en-IN" sz="2100">
                <a:solidFill>
                  <a:schemeClr val="dk1"/>
                </a:solidFill>
                <a:latin typeface="Arial"/>
                <a:ea typeface="Arial"/>
                <a:cs typeface="Arial"/>
                <a:sym typeface="Arial"/>
              </a:rPr>
              <a:t>PostgreSQL/PostGIS</a:t>
            </a:r>
            <a:r>
              <a:rPr lang="en-IN" sz="2100">
                <a:solidFill>
                  <a:schemeClr val="dk1"/>
                </a:solidFill>
                <a:latin typeface="Arial"/>
                <a:ea typeface="Arial"/>
                <a:cs typeface="Arial"/>
                <a:sym typeface="Arial"/>
              </a:rPr>
              <a:t> for persistent and location-based data management in future deployment.</a:t>
            </a:r>
            <a:endParaRPr sz="2100">
              <a:solidFill>
                <a:schemeClr val="dk1"/>
              </a:solidFill>
              <a:latin typeface="Arial"/>
              <a:ea typeface="Arial"/>
              <a:cs typeface="Arial"/>
              <a:sym typeface="Arial"/>
            </a:endParaRPr>
          </a:p>
          <a:p>
            <a:pPr indent="0" lvl="0" marL="306000" rtl="0" algn="just">
              <a:lnSpc>
                <a:spcPct val="115000"/>
              </a:lnSpc>
              <a:spcBef>
                <a:spcPts val="1200"/>
              </a:spcBef>
              <a:spcAft>
                <a:spcPts val="0"/>
              </a:spcAft>
              <a:buNone/>
            </a:pPr>
            <a:r>
              <a:t/>
            </a:r>
            <a:endParaRPr sz="2100">
              <a:solidFill>
                <a:schemeClr val="dk1"/>
              </a:solidFill>
              <a:latin typeface="Arial"/>
              <a:ea typeface="Arial"/>
              <a:cs typeface="Arial"/>
              <a:sym typeface="Arial"/>
            </a:endParaRPr>
          </a:p>
          <a:p>
            <a:pPr indent="-369500" lvl="0" marL="306000" rtl="0" algn="just">
              <a:lnSpc>
                <a:spcPct val="115000"/>
              </a:lnSpc>
              <a:spcBef>
                <a:spcPts val="1200"/>
              </a:spcBef>
              <a:spcAft>
                <a:spcPts val="0"/>
              </a:spcAft>
              <a:buSzPts val="2656"/>
              <a:buChar char="◼"/>
            </a:pPr>
            <a:r>
              <a:rPr b="1" lang="en-IN" sz="2100">
                <a:solidFill>
                  <a:schemeClr val="dk1"/>
                </a:solidFill>
                <a:latin typeface="Arial"/>
                <a:ea typeface="Arial"/>
                <a:cs typeface="Arial"/>
                <a:sym typeface="Arial"/>
              </a:rPr>
              <a:t>Technologies Used:</a:t>
            </a:r>
            <a:r>
              <a:rPr lang="en-IN" sz="2100">
                <a:solidFill>
                  <a:schemeClr val="dk1"/>
                </a:solidFill>
                <a:latin typeface="Arial"/>
                <a:ea typeface="Arial"/>
                <a:cs typeface="Arial"/>
                <a:sym typeface="Arial"/>
              </a:rPr>
              <a:t> Python, Streamlit, Google Gemini API, IBM Bob, GitHub, PostgreSQL/PostGIS (planned).</a:t>
            </a:r>
            <a:endParaRPr sz="2100">
              <a:solidFill>
                <a:schemeClr val="dk1"/>
              </a:solidFill>
              <a:latin typeface="Arial"/>
              <a:ea typeface="Arial"/>
              <a:cs typeface="Arial"/>
              <a:sym typeface="Arial"/>
            </a:endParaRPr>
          </a:p>
          <a:p>
            <a:pPr indent="0" lvl="0" marL="306000" rtl="0" algn="l">
              <a:lnSpc>
                <a:spcPct val="110000"/>
              </a:lnSpc>
              <a:spcBef>
                <a:spcPts val="1200"/>
              </a:spcBef>
              <a:spcAft>
                <a:spcPts val="0"/>
              </a:spcAft>
              <a:buNone/>
            </a:pPr>
            <a:r>
              <a:t/>
            </a:r>
            <a:endParaRPr b="1" sz="1800">
              <a:solidFill>
                <a:srgbClr val="0F0F0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ALGORITHM &amp; DEPLOYMENT</a:t>
            </a:r>
            <a:endParaRPr/>
          </a:p>
        </p:txBody>
      </p:sp>
      <p:sp>
        <p:nvSpPr>
          <p:cNvPr id="128" name="Google Shape;128;p18"/>
          <p:cNvSpPr txBox="1"/>
          <p:nvPr>
            <p:ph idx="1" type="body"/>
          </p:nvPr>
        </p:nvSpPr>
        <p:spPr>
          <a:xfrm>
            <a:off x="581200" y="1302025"/>
            <a:ext cx="11029500" cy="5133000"/>
          </a:xfrm>
          <a:prstGeom prst="rect">
            <a:avLst/>
          </a:prstGeom>
          <a:noFill/>
          <a:ln>
            <a:noFill/>
          </a:ln>
        </p:spPr>
        <p:txBody>
          <a:bodyPr anchorCtr="0" anchor="ctr" bIns="45700" lIns="91425" spcFirstLastPara="1" rIns="91425" wrap="square" tIns="45700">
            <a:normAutofit/>
          </a:bodyPr>
          <a:lstStyle/>
          <a:p>
            <a:pPr indent="0" lvl="0" marL="0" rtl="0" algn="just">
              <a:lnSpc>
                <a:spcPct val="115000"/>
              </a:lnSpc>
              <a:spcBef>
                <a:spcPts val="1200"/>
              </a:spcBef>
              <a:spcAft>
                <a:spcPts val="0"/>
              </a:spcAft>
              <a:buClr>
                <a:schemeClr val="dk1"/>
              </a:buClr>
              <a:buSzPts val="1100"/>
              <a:buFont typeface="Arial"/>
              <a:buNone/>
            </a:pPr>
            <a:r>
              <a:rPr b="1" lang="en-IN" sz="2200">
                <a:solidFill>
                  <a:schemeClr val="dk1"/>
                </a:solidFill>
                <a:latin typeface="Arial"/>
                <a:ea typeface="Arial"/>
                <a:cs typeface="Arial"/>
                <a:sym typeface="Arial"/>
              </a:rPr>
              <a:t>Matching Algorithm:</a:t>
            </a:r>
            <a:r>
              <a:rPr lang="en-IN" sz="2000">
                <a:solidFill>
                  <a:schemeClr val="dk1"/>
                </a:solidFill>
                <a:latin typeface="Arial"/>
                <a:ea typeface="Arial"/>
                <a:cs typeface="Arial"/>
                <a:sym typeface="Arial"/>
              </a:rPr>
              <a:t> LifeLink uses a weighted scoring algorithm to rank potential donor-recipient matches. The system checks blood/organ compatibility, geographic proximity, urgency level, and donor availability to calculate a match score out of 100.</a:t>
            </a:r>
            <a:endParaRPr sz="2000">
              <a:solidFill>
                <a:schemeClr val="dk1"/>
              </a:solidFill>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rPr b="1" lang="en-IN" sz="2200">
                <a:solidFill>
                  <a:schemeClr val="dk1"/>
                </a:solidFill>
                <a:latin typeface="Arial"/>
                <a:ea typeface="Arial"/>
                <a:cs typeface="Arial"/>
                <a:sym typeface="Arial"/>
              </a:rPr>
              <a:t>Processing:</a:t>
            </a:r>
            <a:r>
              <a:rPr lang="en-IN" sz="2200">
                <a:solidFill>
                  <a:schemeClr val="dk1"/>
                </a:solidFill>
                <a:latin typeface="Arial"/>
                <a:ea typeface="Arial"/>
                <a:cs typeface="Arial"/>
                <a:sym typeface="Arial"/>
              </a:rPr>
              <a:t> </a:t>
            </a:r>
            <a:r>
              <a:rPr lang="en-IN" sz="2000">
                <a:solidFill>
                  <a:schemeClr val="dk1"/>
                </a:solidFill>
                <a:latin typeface="Arial"/>
                <a:ea typeface="Arial"/>
                <a:cs typeface="Arial"/>
                <a:sym typeface="Arial"/>
              </a:rPr>
              <a:t>When a recipient submits an urgent request, the system analyzes the requirements, filters incompatible donors, calculates scores for eligible donors, and ranks them from the most suitable to the least suitable match. </a:t>
            </a:r>
            <a:r>
              <a:rPr b="1" lang="en-IN" sz="2000">
                <a:solidFill>
                  <a:schemeClr val="dk1"/>
                </a:solidFill>
                <a:latin typeface="Arial"/>
                <a:ea typeface="Arial"/>
                <a:cs typeface="Arial"/>
                <a:sym typeface="Arial"/>
              </a:rPr>
              <a:t>Score ≥ 80</a:t>
            </a:r>
            <a:r>
              <a:rPr lang="en-IN" sz="2000">
                <a:solidFill>
                  <a:schemeClr val="dk1"/>
                </a:solidFill>
                <a:latin typeface="Arial"/>
                <a:ea typeface="Arial"/>
                <a:cs typeface="Arial"/>
                <a:sym typeface="Arial"/>
              </a:rPr>
              <a:t> is considered a strong match, </a:t>
            </a:r>
            <a:r>
              <a:rPr b="1" lang="en-IN" sz="2000">
                <a:solidFill>
                  <a:schemeClr val="dk1"/>
                </a:solidFill>
                <a:latin typeface="Arial"/>
                <a:ea typeface="Arial"/>
                <a:cs typeface="Arial"/>
                <a:sym typeface="Arial"/>
              </a:rPr>
              <a:t>60–79</a:t>
            </a:r>
            <a:r>
              <a:rPr lang="en-IN" sz="2000">
                <a:solidFill>
                  <a:schemeClr val="dk1"/>
                </a:solidFill>
                <a:latin typeface="Arial"/>
                <a:ea typeface="Arial"/>
                <a:cs typeface="Arial"/>
                <a:sym typeface="Arial"/>
              </a:rPr>
              <a:t> an acceptable match, and </a:t>
            </a:r>
            <a:r>
              <a:rPr b="1" lang="en-IN" sz="2000">
                <a:solidFill>
                  <a:schemeClr val="dk1"/>
                </a:solidFill>
                <a:latin typeface="Arial"/>
                <a:ea typeface="Arial"/>
                <a:cs typeface="Arial"/>
                <a:sym typeface="Arial"/>
              </a:rPr>
              <a:t>below 60</a:t>
            </a:r>
            <a:r>
              <a:rPr lang="en-IN" sz="2000">
                <a:solidFill>
                  <a:schemeClr val="dk1"/>
                </a:solidFill>
                <a:latin typeface="Arial"/>
                <a:ea typeface="Arial"/>
                <a:cs typeface="Arial"/>
                <a:sym typeface="Arial"/>
              </a:rPr>
              <a:t> requires review.</a:t>
            </a:r>
            <a:endParaRPr sz="2000">
              <a:solidFill>
                <a:schemeClr val="dk1"/>
              </a:solidFill>
              <a:latin typeface="Arial"/>
              <a:ea typeface="Arial"/>
              <a:cs typeface="Arial"/>
              <a:sym typeface="Arial"/>
            </a:endParaRPr>
          </a:p>
          <a:p>
            <a:pPr indent="0" lvl="0" marL="0" rtl="0" algn="just">
              <a:lnSpc>
                <a:spcPct val="115000"/>
              </a:lnSpc>
              <a:spcBef>
                <a:spcPts val="1200"/>
              </a:spcBef>
              <a:spcAft>
                <a:spcPts val="0"/>
              </a:spcAft>
              <a:buClr>
                <a:schemeClr val="dk1"/>
              </a:buClr>
              <a:buSzPts val="1100"/>
              <a:buFont typeface="Arial"/>
              <a:buNone/>
            </a:pPr>
            <a:r>
              <a:rPr b="1" lang="en-IN" sz="2200">
                <a:solidFill>
                  <a:schemeClr val="dk1"/>
                </a:solidFill>
                <a:latin typeface="Arial"/>
                <a:ea typeface="Arial"/>
                <a:cs typeface="Arial"/>
                <a:sym typeface="Arial"/>
              </a:rPr>
              <a:t>Deployment:</a:t>
            </a:r>
            <a:r>
              <a:rPr lang="en-IN" sz="2200">
                <a:solidFill>
                  <a:schemeClr val="dk1"/>
                </a:solidFill>
                <a:latin typeface="Arial"/>
                <a:ea typeface="Arial"/>
                <a:cs typeface="Arial"/>
                <a:sym typeface="Arial"/>
              </a:rPr>
              <a:t> </a:t>
            </a:r>
            <a:r>
              <a:rPr lang="en-IN" sz="2000">
                <a:solidFill>
                  <a:schemeClr val="dk1"/>
                </a:solidFill>
                <a:latin typeface="Arial"/>
                <a:ea typeface="Arial"/>
                <a:cs typeface="Arial"/>
                <a:sym typeface="Arial"/>
              </a:rPr>
              <a:t>The prototype is built using </a:t>
            </a:r>
            <a:r>
              <a:rPr b="1" lang="en-IN" sz="2000">
                <a:solidFill>
                  <a:schemeClr val="dk1"/>
                </a:solidFill>
                <a:latin typeface="Arial"/>
                <a:ea typeface="Arial"/>
                <a:cs typeface="Arial"/>
                <a:sym typeface="Arial"/>
              </a:rPr>
              <a:t>Python and Streamlit</a:t>
            </a:r>
            <a:r>
              <a:rPr lang="en-IN" sz="2000">
                <a:solidFill>
                  <a:schemeClr val="dk1"/>
                </a:solidFill>
                <a:latin typeface="Arial"/>
                <a:ea typeface="Arial"/>
                <a:cs typeface="Arial"/>
                <a:sym typeface="Arial"/>
              </a:rPr>
              <a:t>, with </a:t>
            </a:r>
            <a:r>
              <a:rPr b="1" lang="en-IN" sz="2000">
                <a:solidFill>
                  <a:schemeClr val="dk1"/>
                </a:solidFill>
                <a:latin typeface="Arial"/>
                <a:ea typeface="Arial"/>
                <a:cs typeface="Arial"/>
                <a:sym typeface="Arial"/>
              </a:rPr>
              <a:t>Google Gemini</a:t>
            </a:r>
            <a:r>
              <a:rPr lang="en-IN" sz="2000">
                <a:solidFill>
                  <a:schemeClr val="dk1"/>
                </a:solidFill>
                <a:latin typeface="Arial"/>
                <a:ea typeface="Arial"/>
                <a:cs typeface="Arial"/>
                <a:sym typeface="Arial"/>
              </a:rPr>
              <a:t> powering the AI assistant. The application uses </a:t>
            </a:r>
            <a:r>
              <a:rPr b="1" lang="en-IN" sz="2000">
                <a:solidFill>
                  <a:schemeClr val="dk1"/>
                </a:solidFill>
                <a:latin typeface="Arial"/>
                <a:ea typeface="Arial"/>
                <a:cs typeface="Arial"/>
                <a:sym typeface="Arial"/>
              </a:rPr>
              <a:t>Streamlit Session State</a:t>
            </a:r>
            <a:r>
              <a:rPr lang="en-IN" sz="2000">
                <a:solidFill>
                  <a:schemeClr val="dk1"/>
                </a:solidFill>
                <a:latin typeface="Arial"/>
                <a:ea typeface="Arial"/>
                <a:cs typeface="Arial"/>
                <a:sym typeface="Arial"/>
              </a:rPr>
              <a:t> for data storage during the current session and can be deployed through </a:t>
            </a:r>
            <a:r>
              <a:rPr b="1" lang="en-IN" sz="2000">
                <a:solidFill>
                  <a:schemeClr val="dk1"/>
                </a:solidFill>
                <a:latin typeface="Arial"/>
                <a:ea typeface="Arial"/>
                <a:cs typeface="Arial"/>
                <a:sym typeface="Arial"/>
              </a:rPr>
              <a:t>Streamlit Cloud</a:t>
            </a:r>
            <a:r>
              <a:rPr lang="en-IN" sz="2000">
                <a:solidFill>
                  <a:schemeClr val="dk1"/>
                </a:solidFill>
                <a:latin typeface="Arial"/>
                <a:ea typeface="Arial"/>
                <a:cs typeface="Arial"/>
                <a:sym typeface="Arial"/>
              </a:rPr>
              <a:t> with the project maintained on GitHub.</a:t>
            </a:r>
            <a:endParaRPr sz="2000">
              <a:solidFill>
                <a:schemeClr val="dk1"/>
              </a:solidFill>
              <a:latin typeface="Arial"/>
              <a:ea typeface="Arial"/>
              <a:cs typeface="Arial"/>
              <a:sym typeface="Arial"/>
            </a:endParaRPr>
          </a:p>
          <a:p>
            <a:pPr indent="-206121" lvl="0" marL="305435" rtl="0" algn="l">
              <a:lnSpc>
                <a:spcPct val="110000"/>
              </a:lnSpc>
              <a:spcBef>
                <a:spcPts val="1200"/>
              </a:spcBef>
              <a:spcAft>
                <a:spcPts val="0"/>
              </a:spcAft>
              <a:buSzPts val="1564"/>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RESULT</a:t>
            </a:r>
            <a:endParaRPr/>
          </a:p>
        </p:txBody>
      </p:sp>
      <p:sp>
        <p:nvSpPr>
          <p:cNvPr id="134" name="Google Shape;134;p19"/>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2208"/>
              <a:buNone/>
            </a:pPr>
            <a:r>
              <a:t/>
            </a:r>
            <a:endParaRPr sz="2400"/>
          </a:p>
        </p:txBody>
      </p:sp>
      <p:pic>
        <p:nvPicPr>
          <p:cNvPr id="135" name="Google Shape;135;p19" title="Screenshot (544).png"/>
          <p:cNvPicPr preferRelativeResize="0"/>
          <p:nvPr/>
        </p:nvPicPr>
        <p:blipFill>
          <a:blip r:embed="rId3">
            <a:alphaModFix/>
          </a:blip>
          <a:stretch>
            <a:fillRect/>
          </a:stretch>
        </p:blipFill>
        <p:spPr>
          <a:xfrm>
            <a:off x="340475" y="1302025"/>
            <a:ext cx="10422475" cy="4673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pic>
        <p:nvPicPr>
          <p:cNvPr id="142" name="Google Shape;142;p20" title="Screenshot (534).png"/>
          <p:cNvPicPr preferRelativeResize="0"/>
          <p:nvPr/>
        </p:nvPicPr>
        <p:blipFill>
          <a:blip r:embed="rId3">
            <a:alphaModFix/>
          </a:blip>
          <a:stretch>
            <a:fillRect/>
          </a:stretch>
        </p:blipFill>
        <p:spPr>
          <a:xfrm>
            <a:off x="277925" y="430800"/>
            <a:ext cx="11914075" cy="6003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49" name="Google Shape;149;p21"/>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50" name="Google Shape;150;p21" title="Screenshot (536).png"/>
          <p:cNvPicPr preferRelativeResize="0"/>
          <p:nvPr/>
        </p:nvPicPr>
        <p:blipFill>
          <a:blip r:embed="rId3">
            <a:alphaModFix/>
          </a:blip>
          <a:stretch>
            <a:fillRect/>
          </a:stretch>
        </p:blipFill>
        <p:spPr>
          <a:xfrm>
            <a:off x="0" y="717550"/>
            <a:ext cx="12192000" cy="5422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57" name="Google Shape;157;p22"/>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58" name="Google Shape;158;p22" title="Screenshot (539).png"/>
          <p:cNvPicPr preferRelativeResize="0"/>
          <p:nvPr/>
        </p:nvPicPr>
        <p:blipFill>
          <a:blip r:embed="rId3">
            <a:alphaModFix/>
          </a:blip>
          <a:stretch>
            <a:fillRect/>
          </a:stretch>
        </p:blipFill>
        <p:spPr>
          <a:xfrm>
            <a:off x="0" y="663575"/>
            <a:ext cx="12192000" cy="5530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65" name="Google Shape;165;p23"/>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66" name="Google Shape;166;p23" title="Screenshot (545).png"/>
          <p:cNvPicPr preferRelativeResize="0"/>
          <p:nvPr/>
        </p:nvPicPr>
        <p:blipFill>
          <a:blip r:embed="rId3">
            <a:alphaModFix/>
          </a:blip>
          <a:stretch>
            <a:fillRect/>
          </a:stretch>
        </p:blipFill>
        <p:spPr>
          <a:xfrm>
            <a:off x="0" y="730250"/>
            <a:ext cx="12192000" cy="5397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581192" y="702156"/>
            <a:ext cx="11029500" cy="530400"/>
          </a:xfrm>
          <a:prstGeom prst="rect">
            <a:avLst/>
          </a:prstGeom>
        </p:spPr>
        <p:txBody>
          <a:bodyPr anchorCtr="0" anchor="b" bIns="45700" lIns="91425" spcFirstLastPara="1" rIns="91425" wrap="square" tIns="45700">
            <a:normAutofit/>
          </a:bodyPr>
          <a:lstStyle/>
          <a:p>
            <a:pPr indent="0" lvl="0" marL="0" rtl="0" algn="l">
              <a:spcBef>
                <a:spcPts val="0"/>
              </a:spcBef>
              <a:spcAft>
                <a:spcPts val="0"/>
              </a:spcAft>
              <a:buNone/>
            </a:pPr>
            <a:r>
              <a:t/>
            </a:r>
            <a:endParaRPr/>
          </a:p>
        </p:txBody>
      </p:sp>
      <p:sp>
        <p:nvSpPr>
          <p:cNvPr id="173" name="Google Shape;173;p24"/>
          <p:cNvSpPr txBox="1"/>
          <p:nvPr>
            <p:ph idx="1" type="body"/>
          </p:nvPr>
        </p:nvSpPr>
        <p:spPr>
          <a:xfrm>
            <a:off x="581192" y="1302026"/>
            <a:ext cx="11029500" cy="4673400"/>
          </a:xfrm>
          <a:prstGeom prst="rect">
            <a:avLst/>
          </a:prstGeom>
        </p:spPr>
        <p:txBody>
          <a:bodyPr anchorCtr="0" anchor="ctr" bIns="45700" lIns="91425" spcFirstLastPara="1" rIns="91425" wrap="square" tIns="45700">
            <a:normAutofit/>
          </a:bodyPr>
          <a:lstStyle/>
          <a:p>
            <a:pPr indent="0" lvl="0" marL="0" rtl="0" algn="l">
              <a:spcBef>
                <a:spcPts val="360"/>
              </a:spcBef>
              <a:spcAft>
                <a:spcPts val="600"/>
              </a:spcAft>
              <a:buNone/>
            </a:pPr>
            <a:r>
              <a:t/>
            </a:r>
            <a:endParaRPr/>
          </a:p>
        </p:txBody>
      </p:sp>
      <p:pic>
        <p:nvPicPr>
          <p:cNvPr id="174" name="Google Shape;174;p24" title="Screenshot (542).png"/>
          <p:cNvPicPr preferRelativeResize="0"/>
          <p:nvPr/>
        </p:nvPicPr>
        <p:blipFill>
          <a:blip r:embed="rId3">
            <a:alphaModFix/>
          </a:blip>
          <a:stretch>
            <a:fillRect/>
          </a:stretch>
        </p:blipFill>
        <p:spPr>
          <a:xfrm>
            <a:off x="0" y="654050"/>
            <a:ext cx="12192000" cy="5549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CONCLUSION</a:t>
            </a:r>
            <a:endParaRPr/>
          </a:p>
        </p:txBody>
      </p:sp>
      <p:sp>
        <p:nvSpPr>
          <p:cNvPr id="180" name="Google Shape;180;p25"/>
          <p:cNvSpPr txBox="1"/>
          <p:nvPr>
            <p:ph idx="1" type="body"/>
          </p:nvPr>
        </p:nvSpPr>
        <p:spPr>
          <a:xfrm>
            <a:off x="581250" y="1431800"/>
            <a:ext cx="11029500" cy="50805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115000"/>
              </a:lnSpc>
              <a:spcBef>
                <a:spcPts val="1200"/>
              </a:spcBef>
              <a:spcAft>
                <a:spcPts val="0"/>
              </a:spcAft>
              <a:buClr>
                <a:schemeClr val="dk1"/>
              </a:buClr>
              <a:buSzPts val="1100"/>
              <a:buFont typeface="Arial"/>
              <a:buNone/>
            </a:pPr>
            <a:r>
              <a:rPr lang="en-IN" sz="1800">
                <a:solidFill>
                  <a:schemeClr val="dk1"/>
                </a:solidFill>
                <a:latin typeface="Arial"/>
                <a:ea typeface="Arial"/>
                <a:cs typeface="Arial"/>
                <a:sym typeface="Arial"/>
              </a:rPr>
              <a:t>LifeLink provides an intelligent approach to connecting donors and recipients during emergency situations.</a:t>
            </a:r>
            <a:endParaRPr sz="1800">
              <a:solidFill>
                <a:schemeClr val="dk1"/>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IN" sz="2100">
                <a:solidFill>
                  <a:schemeClr val="dk1"/>
                </a:solidFill>
                <a:latin typeface="Arial"/>
                <a:ea typeface="Arial"/>
                <a:cs typeface="Arial"/>
                <a:sym typeface="Arial"/>
              </a:rPr>
              <a:t>Key Achievements</a:t>
            </a:r>
            <a:endParaRPr b="1" sz="2100">
              <a:solidFill>
                <a:schemeClr val="dk1"/>
              </a:solidFill>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en-IN">
                <a:solidFill>
                  <a:schemeClr val="dk1"/>
                </a:solidFill>
                <a:latin typeface="Arial"/>
                <a:ea typeface="Arial"/>
                <a:cs typeface="Arial"/>
                <a:sym typeface="Arial"/>
              </a:rPr>
              <a:t>Centralizes donor and recipient information.</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Automates donor-recipient matching.</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Combines compatibility, location, urgency and availability.</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Reduces dependence on manual donor searching.</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Provides an AI-powered conversational assistant.</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Provides an administrative dashboard for monitoring.</a:t>
            </a:r>
            <a:endParaRPr>
              <a:solidFill>
                <a:schemeClr val="dk1"/>
              </a:solidFill>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IN">
                <a:solidFill>
                  <a:schemeClr val="dk1"/>
                </a:solidFill>
                <a:latin typeface="Arial"/>
                <a:ea typeface="Arial"/>
                <a:cs typeface="Arial"/>
                <a:sym typeface="Arial"/>
              </a:rPr>
              <a:t>Creates a foundation for a scalable national donor-matching platform.</a:t>
            </a:r>
            <a:endParaRPr>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IN" sz="2200">
                <a:solidFill>
                  <a:schemeClr val="dk1"/>
                </a:solidFill>
                <a:latin typeface="Arial"/>
                <a:ea typeface="Arial"/>
                <a:cs typeface="Arial"/>
                <a:sym typeface="Arial"/>
              </a:rPr>
              <a:t>Overall:</a:t>
            </a:r>
            <a:br>
              <a:rPr b="1" lang="en-IN" sz="1100">
                <a:solidFill>
                  <a:schemeClr val="dk1"/>
                </a:solidFill>
                <a:latin typeface="Arial"/>
                <a:ea typeface="Arial"/>
                <a:cs typeface="Arial"/>
                <a:sym typeface="Arial"/>
              </a:rPr>
            </a:br>
            <a:r>
              <a:rPr lang="en-IN">
                <a:solidFill>
                  <a:schemeClr val="dk1"/>
                </a:solidFill>
                <a:latin typeface="Arial"/>
                <a:ea typeface="Arial"/>
                <a:cs typeface="Arial"/>
                <a:sym typeface="Arial"/>
              </a:rPr>
              <a:t>LifeLink demonstrates how AI and intelligent automation can help make emergency donor discovery faster, more organized and more accessible.</a:t>
            </a:r>
            <a:endParaRPr>
              <a:solidFill>
                <a:schemeClr val="dk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latin typeface="Arial"/>
              <a:ea typeface="Arial"/>
              <a:cs typeface="Arial"/>
              <a:sym typeface="Arial"/>
            </a:endParaRPr>
          </a:p>
          <a:p>
            <a:pPr indent="-188595" lvl="0" marL="305435" rtl="0" algn="l">
              <a:lnSpc>
                <a:spcPct val="110000"/>
              </a:lnSpc>
              <a:spcBef>
                <a:spcPts val="1000"/>
              </a:spcBef>
              <a:spcAft>
                <a:spcPts val="0"/>
              </a:spcAft>
              <a:buSzPts val="1840"/>
              <a:buNone/>
            </a:pPr>
            <a:r>
              <a:t/>
            </a:r>
            <a:endParaRPr sz="2000">
              <a:solidFill>
                <a:srgbClr val="0F0F0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0" lvl="0" marL="0" rtl="0" algn="l">
              <a:lnSpc>
                <a:spcPct val="110000"/>
              </a:lnSpc>
              <a:spcBef>
                <a:spcPts val="0"/>
              </a:spcBef>
              <a:spcAft>
                <a:spcPts val="0"/>
              </a:spcAft>
              <a:buSzPts val="1840"/>
              <a:buNone/>
            </a:pPr>
            <a:r>
              <a:t/>
            </a:r>
            <a:endParaRPr b="1" sz="2000"/>
          </a:p>
          <a:p>
            <a:pPr indent="-368935" lvl="0" marL="305435" rtl="0" algn="just">
              <a:lnSpc>
                <a:spcPct val="110000"/>
              </a:lnSpc>
              <a:spcBef>
                <a:spcPts val="1000"/>
              </a:spcBef>
              <a:spcAft>
                <a:spcPts val="0"/>
              </a:spcAft>
              <a:buSzPts val="2840"/>
              <a:buChar char="◼"/>
            </a:pPr>
            <a:r>
              <a:rPr lang="en-IN" sz="2100">
                <a:solidFill>
                  <a:schemeClr val="dk1"/>
                </a:solidFill>
                <a:latin typeface="Arial"/>
                <a:ea typeface="Arial"/>
                <a:cs typeface="Arial"/>
                <a:sym typeface="Arial"/>
              </a:rPr>
              <a:t>In the future, </a:t>
            </a:r>
            <a:r>
              <a:rPr b="1" lang="en-IN" sz="2100">
                <a:solidFill>
                  <a:schemeClr val="dk1"/>
                </a:solidFill>
                <a:latin typeface="Arial"/>
                <a:ea typeface="Arial"/>
                <a:cs typeface="Arial"/>
                <a:sym typeface="Arial"/>
              </a:rPr>
              <a:t>LifeLink</a:t>
            </a:r>
            <a:r>
              <a:rPr lang="en-IN" sz="2100">
                <a:solidFill>
                  <a:schemeClr val="dk1"/>
                </a:solidFill>
                <a:latin typeface="Arial"/>
                <a:ea typeface="Arial"/>
                <a:cs typeface="Arial"/>
                <a:sym typeface="Arial"/>
              </a:rPr>
              <a:t> can be enhanced with a </a:t>
            </a:r>
            <a:r>
              <a:rPr b="1" lang="en-IN" sz="2100">
                <a:solidFill>
                  <a:schemeClr val="dk1"/>
                </a:solidFill>
                <a:latin typeface="Arial"/>
                <a:ea typeface="Arial"/>
                <a:cs typeface="Arial"/>
                <a:sym typeface="Arial"/>
              </a:rPr>
              <a:t>persistent cloud database</a:t>
            </a:r>
            <a:r>
              <a:rPr lang="en-IN" sz="2100">
                <a:solidFill>
                  <a:schemeClr val="dk1"/>
                </a:solidFill>
                <a:latin typeface="Arial"/>
                <a:ea typeface="Arial"/>
                <a:cs typeface="Arial"/>
                <a:sym typeface="Arial"/>
              </a:rPr>
              <a:t> to manage large-scale donor and recipient records. The platform can integrate </a:t>
            </a:r>
            <a:r>
              <a:rPr b="1" lang="en-IN" sz="2100">
                <a:solidFill>
                  <a:schemeClr val="dk1"/>
                </a:solidFill>
                <a:latin typeface="Arial"/>
                <a:ea typeface="Arial"/>
                <a:cs typeface="Arial"/>
                <a:sym typeface="Arial"/>
              </a:rPr>
              <a:t>real-time SMS, WhatsApp and push notifications</a:t>
            </a:r>
            <a:r>
              <a:rPr lang="en-IN" sz="2100">
                <a:solidFill>
                  <a:schemeClr val="dk1"/>
                </a:solidFill>
                <a:latin typeface="Arial"/>
                <a:ea typeface="Arial"/>
                <a:cs typeface="Arial"/>
                <a:sym typeface="Arial"/>
              </a:rPr>
              <a:t> for faster emergency communication. The matching engine can be improved using </a:t>
            </a:r>
            <a:r>
              <a:rPr b="1" lang="en-IN" sz="2100">
                <a:solidFill>
                  <a:schemeClr val="dk1"/>
                </a:solidFill>
                <a:latin typeface="Arial"/>
                <a:ea typeface="Arial"/>
                <a:cs typeface="Arial"/>
                <a:sym typeface="Arial"/>
              </a:rPr>
              <a:t>advanced AI-based ranking and predictive donor availability</a:t>
            </a:r>
            <a:r>
              <a:rPr lang="en-IN" sz="2100">
                <a:solidFill>
                  <a:schemeClr val="dk1"/>
                </a:solidFill>
                <a:latin typeface="Arial"/>
                <a:ea typeface="Arial"/>
                <a:cs typeface="Arial"/>
                <a:sym typeface="Arial"/>
              </a:rPr>
              <a:t>. A dedicated </a:t>
            </a:r>
            <a:r>
              <a:rPr b="1" lang="en-IN" sz="2100">
                <a:solidFill>
                  <a:schemeClr val="dk1"/>
                </a:solidFill>
                <a:latin typeface="Arial"/>
                <a:ea typeface="Arial"/>
                <a:cs typeface="Arial"/>
                <a:sym typeface="Arial"/>
              </a:rPr>
              <a:t>mobile application</a:t>
            </a:r>
            <a:r>
              <a:rPr lang="en-IN" sz="2100">
                <a:solidFill>
                  <a:schemeClr val="dk1"/>
                </a:solidFill>
                <a:latin typeface="Arial"/>
                <a:ea typeface="Arial"/>
                <a:cs typeface="Arial"/>
                <a:sym typeface="Arial"/>
              </a:rPr>
              <a:t> and direct </a:t>
            </a:r>
            <a:r>
              <a:rPr b="1" lang="en-IN" sz="2100">
                <a:solidFill>
                  <a:schemeClr val="dk1"/>
                </a:solidFill>
                <a:latin typeface="Arial"/>
                <a:ea typeface="Arial"/>
                <a:cs typeface="Arial"/>
                <a:sym typeface="Arial"/>
              </a:rPr>
              <a:t>hospital integration</a:t>
            </a:r>
            <a:r>
              <a:rPr lang="en-IN" sz="2100">
                <a:solidFill>
                  <a:schemeClr val="dk1"/>
                </a:solidFill>
                <a:latin typeface="Arial"/>
                <a:ea typeface="Arial"/>
                <a:cs typeface="Arial"/>
                <a:sym typeface="Arial"/>
              </a:rPr>
              <a:t> can further expand the system, enabling LifeLink to support regional and eventually </a:t>
            </a:r>
            <a:r>
              <a:rPr b="1" lang="en-IN" sz="2100">
                <a:solidFill>
                  <a:schemeClr val="dk1"/>
                </a:solidFill>
                <a:latin typeface="Arial"/>
                <a:ea typeface="Arial"/>
                <a:cs typeface="Arial"/>
                <a:sym typeface="Arial"/>
              </a:rPr>
              <a:t>national-level blood and organ donation networks</a:t>
            </a:r>
            <a:r>
              <a:rPr lang="en-IN" sz="2100">
                <a:solidFill>
                  <a:schemeClr val="dk1"/>
                </a:solidFill>
                <a:latin typeface="Arial"/>
                <a:ea typeface="Arial"/>
                <a:cs typeface="Arial"/>
                <a:sym typeface="Arial"/>
              </a:rPr>
              <a:t>. </a:t>
            </a:r>
            <a:endParaRPr sz="3000"/>
          </a:p>
          <a:p>
            <a:pPr indent="-206121" lvl="0" marL="305435" rtl="0" algn="l">
              <a:lnSpc>
                <a:spcPct val="110000"/>
              </a:lnSpc>
              <a:spcBef>
                <a:spcPts val="940"/>
              </a:spcBef>
              <a:spcAft>
                <a:spcPts val="0"/>
              </a:spcAft>
              <a:buSzPts val="1564"/>
              <a:buNone/>
            </a:pPr>
            <a:r>
              <a:t/>
            </a:r>
            <a:endParaRPr/>
          </a:p>
        </p:txBody>
      </p:sp>
      <p:sp>
        <p:nvSpPr>
          <p:cNvPr id="186" name="Google Shape;186;p26"/>
          <p:cNvSpPr txBox="1"/>
          <p:nvPr/>
        </p:nvSpPr>
        <p:spPr>
          <a:xfrm>
            <a:off x="535670" y="844659"/>
            <a:ext cx="11029616" cy="530296"/>
          </a:xfrm>
          <a:prstGeom prst="rect">
            <a:avLst/>
          </a:prstGeom>
          <a:noFill/>
          <a:ln>
            <a:noFill/>
          </a:ln>
        </p:spPr>
        <p:txBody>
          <a:bodyPr anchorCtr="0" anchor="b" bIns="45700" lIns="91425" spcFirstLastPara="1" rIns="91425" wrap="square" tIns="45700">
            <a:normAutofit fontScale="75000" lnSpcReduction="20000"/>
          </a:bodyPr>
          <a:lstStyle/>
          <a:p>
            <a:pPr indent="0" lvl="0" marL="0" marR="0" rtl="0" algn="l">
              <a:lnSpc>
                <a:spcPct val="100000"/>
              </a:lnSpc>
              <a:spcBef>
                <a:spcPts val="0"/>
              </a:spcBef>
              <a:spcAft>
                <a:spcPts val="0"/>
              </a:spcAft>
              <a:buClr>
                <a:schemeClr val="accent1"/>
              </a:buClr>
              <a:buSzPct val="100000"/>
              <a:buFont typeface="Arial"/>
              <a:buNone/>
            </a:pPr>
            <a:r>
              <a:rPr b="1" lang="en-IN" sz="4400" cap="none">
                <a:solidFill>
                  <a:schemeClr val="accent1"/>
                </a:solidFill>
                <a:latin typeface="Arial"/>
                <a:ea typeface="Arial"/>
                <a:cs typeface="Arial"/>
                <a:sym typeface="Arial"/>
              </a:rPr>
              <a:t>FUTURE SCOPE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581192" y="702156"/>
            <a:ext cx="11029616" cy="5302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accent1"/>
              </a:buClr>
              <a:buSzPct val="100000"/>
              <a:buFont typeface="Arial"/>
              <a:buNone/>
            </a:pPr>
            <a:r>
              <a:rPr b="1" lang="en-IN" sz="4400">
                <a:solidFill>
                  <a:schemeClr val="accent1"/>
                </a:solidFill>
                <a:latin typeface="Arial"/>
                <a:ea typeface="Arial"/>
                <a:cs typeface="Arial"/>
                <a:sym typeface="Arial"/>
              </a:rPr>
              <a:t>REFERENCES</a:t>
            </a:r>
            <a:endParaRPr/>
          </a:p>
        </p:txBody>
      </p:sp>
      <p:sp>
        <p:nvSpPr>
          <p:cNvPr id="192" name="Google Shape;192;p27"/>
          <p:cNvSpPr txBox="1"/>
          <p:nvPr>
            <p:ph idx="1" type="body"/>
          </p:nvPr>
        </p:nvSpPr>
        <p:spPr>
          <a:xfrm>
            <a:off x="581200" y="1302025"/>
            <a:ext cx="11029500" cy="5791800"/>
          </a:xfrm>
          <a:prstGeom prst="rect">
            <a:avLst/>
          </a:prstGeom>
          <a:noFill/>
          <a:ln>
            <a:noFill/>
          </a:ln>
        </p:spPr>
        <p:txBody>
          <a:bodyPr anchorCtr="0" anchor="ctr" bIns="45700" lIns="91425" spcFirstLastPara="1" rIns="91425" wrap="square" tIns="45700">
            <a:normAutofit/>
          </a:bodyPr>
          <a:lstStyle/>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GitHub</a:t>
            </a:r>
            <a:r>
              <a:rPr lang="en-IN" sz="2000">
                <a:solidFill>
                  <a:schemeClr val="dk1"/>
                </a:solidFill>
                <a:latin typeface="Arial"/>
                <a:ea typeface="Arial"/>
                <a:cs typeface="Arial"/>
                <a:sym typeface="Arial"/>
              </a:rPr>
              <a:t> – LifeLink: Blood &amp; Organ Donor Matching Platform</a:t>
            </a:r>
            <a:endParaRPr sz="2000">
              <a:solidFill>
                <a:schemeClr val="dk1"/>
              </a:solidFill>
              <a:latin typeface="Arial"/>
              <a:ea typeface="Arial"/>
              <a:cs typeface="Arial"/>
              <a:sym typeface="Arial"/>
            </a:endParaRPr>
          </a:p>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Python Documentation</a:t>
            </a:r>
            <a:r>
              <a:rPr lang="en-IN" sz="2000">
                <a:solidFill>
                  <a:schemeClr val="dk1"/>
                </a:solidFill>
                <a:latin typeface="Arial"/>
                <a:ea typeface="Arial"/>
                <a:cs typeface="Arial"/>
                <a:sym typeface="Arial"/>
              </a:rPr>
              <a:t> – Python programming language and libraries</a:t>
            </a:r>
            <a:endParaRPr sz="2000">
              <a:solidFill>
                <a:schemeClr val="dk1"/>
              </a:solidFill>
              <a:latin typeface="Arial"/>
              <a:ea typeface="Arial"/>
              <a:cs typeface="Arial"/>
              <a:sym typeface="Arial"/>
            </a:endParaRPr>
          </a:p>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Streamlit Documentation</a:t>
            </a:r>
            <a:r>
              <a:rPr lang="en-IN" sz="2000">
                <a:solidFill>
                  <a:schemeClr val="dk1"/>
                </a:solidFill>
                <a:latin typeface="Arial"/>
                <a:ea typeface="Arial"/>
                <a:cs typeface="Arial"/>
                <a:sym typeface="Arial"/>
              </a:rPr>
              <a:t> – Web application development and deployment</a:t>
            </a:r>
            <a:endParaRPr sz="2000">
              <a:solidFill>
                <a:schemeClr val="dk1"/>
              </a:solidFill>
              <a:latin typeface="Arial"/>
              <a:ea typeface="Arial"/>
              <a:cs typeface="Arial"/>
              <a:sym typeface="Arial"/>
            </a:endParaRPr>
          </a:p>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Google Gemini API Documentation</a:t>
            </a:r>
            <a:r>
              <a:rPr lang="en-IN" sz="2000">
                <a:solidFill>
                  <a:schemeClr val="dk1"/>
                </a:solidFill>
                <a:latin typeface="Arial"/>
                <a:ea typeface="Arial"/>
                <a:cs typeface="Arial"/>
                <a:sym typeface="Arial"/>
              </a:rPr>
              <a:t> – AI assistant integration</a:t>
            </a:r>
            <a:endParaRPr sz="2000">
              <a:solidFill>
                <a:schemeClr val="dk1"/>
              </a:solidFill>
              <a:latin typeface="Arial"/>
              <a:ea typeface="Arial"/>
              <a:cs typeface="Arial"/>
              <a:sym typeface="Arial"/>
            </a:endParaRPr>
          </a:p>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IBM Bob</a:t>
            </a:r>
            <a:r>
              <a:rPr lang="en-IN" sz="2000">
                <a:solidFill>
                  <a:schemeClr val="dk1"/>
                </a:solidFill>
                <a:latin typeface="Arial"/>
                <a:ea typeface="Arial"/>
                <a:cs typeface="Arial"/>
                <a:sym typeface="Arial"/>
              </a:rPr>
              <a:t> – AI-powered application development</a:t>
            </a:r>
            <a:endParaRPr sz="2000">
              <a:solidFill>
                <a:schemeClr val="dk1"/>
              </a:solidFill>
              <a:latin typeface="Arial"/>
              <a:ea typeface="Arial"/>
              <a:cs typeface="Arial"/>
              <a:sym typeface="Arial"/>
            </a:endParaRPr>
          </a:p>
          <a:p>
            <a:pPr indent="-398202" lvl="0" marL="306000" rtl="0" algn="l">
              <a:spcBef>
                <a:spcPts val="1080"/>
              </a:spcBef>
              <a:spcAft>
                <a:spcPts val="0"/>
              </a:spcAft>
              <a:buSzPts val="3108"/>
              <a:buChar char="◼"/>
            </a:pPr>
            <a:r>
              <a:rPr b="1" lang="en-IN" sz="2000">
                <a:solidFill>
                  <a:schemeClr val="dk1"/>
                </a:solidFill>
                <a:latin typeface="Arial"/>
                <a:ea typeface="Arial"/>
                <a:cs typeface="Arial"/>
                <a:sym typeface="Arial"/>
              </a:rPr>
              <a:t>GitHub Documentation</a:t>
            </a:r>
            <a:r>
              <a:rPr lang="en-IN" sz="2000">
                <a:solidFill>
                  <a:schemeClr val="dk1"/>
                </a:solidFill>
                <a:latin typeface="Arial"/>
                <a:ea typeface="Arial"/>
                <a:cs typeface="Arial"/>
                <a:sym typeface="Arial"/>
              </a:rPr>
              <a:t> – Version control and project repository management</a:t>
            </a:r>
            <a:endParaRPr sz="2000">
              <a:solidFill>
                <a:schemeClr val="dk1"/>
              </a:solidFill>
              <a:latin typeface="Arial"/>
              <a:ea typeface="Arial"/>
              <a:cs typeface="Arial"/>
              <a:sym typeface="Arial"/>
            </a:endParaRPr>
          </a:p>
          <a:p>
            <a:pPr indent="0" lvl="0" marL="306000" rtl="0" algn="l">
              <a:lnSpc>
                <a:spcPct val="110000"/>
              </a:lnSpc>
              <a:spcBef>
                <a:spcPts val="1080"/>
              </a:spcBef>
              <a:spcAft>
                <a:spcPts val="0"/>
              </a:spcAft>
              <a:buNone/>
            </a:pPr>
            <a:r>
              <a:t/>
            </a:r>
            <a:endParaRPr sz="2400">
              <a:solidFill>
                <a:srgbClr val="0F0F0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8"/>
          <p:cNvSpPr txBox="1"/>
          <p:nvPr>
            <p:ph type="title"/>
          </p:nvPr>
        </p:nvSpPr>
        <p:spPr>
          <a:xfrm>
            <a:off x="581200" y="628947"/>
            <a:ext cx="11029500" cy="673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b="1" lang="en-IN"/>
              <a:t>DEPLOYMENT LINK / GITHUB LINK</a:t>
            </a:r>
            <a:endParaRPr b="1"/>
          </a:p>
        </p:txBody>
      </p:sp>
      <p:sp>
        <p:nvSpPr>
          <p:cNvPr id="198" name="Google Shape;198;p28"/>
          <p:cNvSpPr txBox="1"/>
          <p:nvPr>
            <p:ph idx="1" type="body"/>
          </p:nvPr>
        </p:nvSpPr>
        <p:spPr>
          <a:xfrm>
            <a:off x="581192" y="1302026"/>
            <a:ext cx="11029615" cy="4673324"/>
          </a:xfrm>
          <a:prstGeom prst="rect">
            <a:avLst/>
          </a:prstGeom>
          <a:noFill/>
          <a:ln>
            <a:noFill/>
          </a:ln>
        </p:spPr>
        <p:txBody>
          <a:bodyPr anchorCtr="0" anchor="ctr" bIns="45700" lIns="91425" spcFirstLastPara="1" rIns="91425" wrap="square" tIns="45700">
            <a:normAutofit/>
          </a:bodyPr>
          <a:lstStyle/>
          <a:p>
            <a:pPr indent="-375285" lvl="0" marL="305435" rtl="0" algn="l">
              <a:lnSpc>
                <a:spcPct val="110000"/>
              </a:lnSpc>
              <a:spcBef>
                <a:spcPts val="0"/>
              </a:spcBef>
              <a:spcAft>
                <a:spcPts val="0"/>
              </a:spcAft>
              <a:buSzPts val="2664"/>
              <a:buChar char="◼"/>
            </a:pPr>
            <a:r>
              <a:rPr b="1" lang="en-IN" sz="2800"/>
              <a:t>Github Link: </a:t>
            </a:r>
            <a:r>
              <a:rPr lang="en-IN" sz="2800"/>
              <a:t>https://github.com/codedby-shreya/LifeLink.git</a:t>
            </a:r>
            <a:endParaRPr sz="2800"/>
          </a:p>
          <a:p>
            <a:pPr indent="-375285" lvl="0" marL="305435" rtl="0" algn="l">
              <a:lnSpc>
                <a:spcPct val="110000"/>
              </a:lnSpc>
              <a:spcBef>
                <a:spcPts val="940"/>
              </a:spcBef>
              <a:spcAft>
                <a:spcPts val="0"/>
              </a:spcAft>
              <a:buSzPts val="2664"/>
              <a:buChar char="◼"/>
            </a:pPr>
            <a:r>
              <a:rPr b="1" lang="en-IN" sz="2800"/>
              <a:t>Deployment:</a:t>
            </a:r>
            <a:r>
              <a:rPr lang="en-IN" sz="2800"/>
              <a:t> https://lifelink-dyvtt99samukjdimfcxbvj.streamlit.app/</a:t>
            </a:r>
            <a:endParaRPr sz="2800"/>
          </a:p>
          <a:p>
            <a:pPr indent="-375285" lvl="0" marL="305435" rtl="0" algn="l">
              <a:lnSpc>
                <a:spcPct val="110000"/>
              </a:lnSpc>
              <a:spcBef>
                <a:spcPts val="940"/>
              </a:spcBef>
              <a:spcAft>
                <a:spcPts val="0"/>
              </a:spcAft>
              <a:buSzPts val="2664"/>
              <a:buChar char="◼"/>
            </a:pPr>
            <a:r>
              <a:rPr lang="en-IN" sz="2800" u="sng">
                <a:solidFill>
                  <a:schemeClr val="hlink"/>
                </a:solidFill>
                <a:hlinkClick r:id="rId3"/>
              </a:rPr>
              <a:t>Streamlit</a:t>
            </a:r>
            <a:endParaRPr sz="2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9"/>
          <p:cNvSpPr txBox="1"/>
          <p:nvPr>
            <p:ph type="title"/>
          </p:nvPr>
        </p:nvSpPr>
        <p:spPr>
          <a:xfrm>
            <a:off x="1463041" y="2766218"/>
            <a:ext cx="9298744" cy="132556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rgbClr val="002060"/>
              </a:buClr>
              <a:buSzPts val="2800"/>
              <a:buFont typeface="Arial"/>
              <a:buNone/>
            </a:pPr>
            <a:r>
              <a:rPr b="1" lang="en-IN">
                <a:solidFill>
                  <a:srgbClr val="002060"/>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